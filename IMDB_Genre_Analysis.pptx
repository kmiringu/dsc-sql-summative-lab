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30400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516782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948917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9045930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423265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229205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003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70783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7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779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6017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5841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998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259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0402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512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426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9257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334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692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4053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74041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95893499" name="Text 1"/>
          <p:cNvSpPr/>
          <p:nvPr/>
        </p:nvSpPr>
        <p:spPr bwMode="auto">
          <a:xfrm>
            <a:off x="411480" y="1280160"/>
            <a:ext cx="83210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IMDB Genre Analysis</a:t>
            </a:r>
            <a:endParaRPr lang="en-US" sz="4000"/>
          </a:p>
        </p:txBody>
      </p:sp>
      <p:sp>
        <p:nvSpPr>
          <p:cNvPr id="1586439451" name="Text 2"/>
          <p:cNvSpPr/>
          <p:nvPr/>
        </p:nvSpPr>
        <p:spPr bwMode="auto">
          <a:xfrm>
            <a:off x="41148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CADCFC"/>
                </a:solidFill>
                <a:latin typeface="Calibri Light"/>
                <a:ea typeface="Calibri Light"/>
                <a:cs typeface="Calibri Light"/>
              </a:rPr>
              <a:t>Exploring Rating Trends Across Film Genres (2010–2019)</a:t>
            </a:r>
            <a:endParaRPr lang="en-US" sz="1800"/>
          </a:p>
        </p:txBody>
      </p:sp>
      <p:sp>
        <p:nvSpPr>
          <p:cNvPr id="131456841" name="Shape 3"/>
          <p:cNvSpPr/>
          <p:nvPr/>
        </p:nvSpPr>
        <p:spPr bwMode="auto">
          <a:xfrm>
            <a:off x="411480" y="3017519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6701726" name="Text 4"/>
          <p:cNvSpPr/>
          <p:nvPr/>
        </p:nvSpPr>
        <p:spPr bwMode="auto">
          <a:xfrm>
            <a:off x="41148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 Light"/>
                <a:ea typeface="Calibri Light"/>
                <a:cs typeface="Calibri Light"/>
              </a:rPr>
              <a:t>Source: IMDB  |  Prepared by: Miring’u Kamau  |  2026</a:t>
            </a:r>
            <a:endParaRPr lang="en-US" sz="1100"/>
          </a:p>
        </p:txBody>
      </p:sp>
      <p:sp>
        <p:nvSpPr>
          <p:cNvPr id="133333535" name="Text 5"/>
          <p:cNvSpPr/>
          <p:nvPr/>
        </p:nvSpPr>
        <p:spPr bwMode="auto">
          <a:xfrm>
            <a:off x="4114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i="1">
                <a:solidFill>
                  <a:srgbClr val="CADCFC"/>
                </a:solidFill>
                <a:latin typeface="Calibri Light"/>
                <a:ea typeface="Calibri Light"/>
                <a:cs typeface="Calibri Light"/>
              </a:rPr>
              <a:t>Data Science — Exploratory Analysis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075124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8331801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 |  Initial Exploration Findings</a:t>
            </a:r>
            <a:endParaRPr lang="en-US" sz="1600"/>
          </a:p>
        </p:txBody>
      </p:sp>
      <p:sp>
        <p:nvSpPr>
          <p:cNvPr id="927786912" name="Shape 2"/>
          <p:cNvSpPr/>
          <p:nvPr/>
        </p:nvSpPr>
        <p:spPr bwMode="auto">
          <a:xfrm>
            <a:off x="365760" y="868680"/>
            <a:ext cx="265176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35270036" name="Text 3"/>
          <p:cNvSpPr/>
          <p:nvPr/>
        </p:nvSpPr>
        <p:spPr bwMode="auto">
          <a:xfrm>
            <a:off x="365760" y="896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22</a:t>
            </a:r>
            <a:endParaRPr lang="en-US" sz="3600"/>
          </a:p>
        </p:txBody>
      </p:sp>
      <p:sp>
        <p:nvSpPr>
          <p:cNvPr id="1635666334" name="Text 4"/>
          <p:cNvSpPr/>
          <p:nvPr/>
        </p:nvSpPr>
        <p:spPr bwMode="auto">
          <a:xfrm>
            <a:off x="365760" y="15361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Unique Genres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Identified</a:t>
            </a:r>
            <a:endParaRPr lang="en-US" sz="1000"/>
          </a:p>
        </p:txBody>
      </p:sp>
      <p:sp>
        <p:nvSpPr>
          <p:cNvPr id="1947600062" name="Shape 5"/>
          <p:cNvSpPr/>
          <p:nvPr/>
        </p:nvSpPr>
        <p:spPr bwMode="auto">
          <a:xfrm>
            <a:off x="3291840" y="868680"/>
            <a:ext cx="265176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10289539" name="Text 6"/>
          <p:cNvSpPr/>
          <p:nvPr/>
        </p:nvSpPr>
        <p:spPr bwMode="auto">
          <a:xfrm>
            <a:off x="3291840" y="896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7.33</a:t>
            </a:r>
            <a:endParaRPr lang="en-US" sz="3600"/>
          </a:p>
        </p:txBody>
      </p:sp>
      <p:sp>
        <p:nvSpPr>
          <p:cNvPr id="663012385" name="Text 7"/>
          <p:cNvSpPr/>
          <p:nvPr/>
        </p:nvSpPr>
        <p:spPr bwMode="auto">
          <a:xfrm>
            <a:off x="3291840" y="15361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Highest Avg Rating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(Documentary)</a:t>
            </a:r>
            <a:endParaRPr lang="en-US" sz="1000"/>
          </a:p>
        </p:txBody>
      </p:sp>
      <p:sp>
        <p:nvSpPr>
          <p:cNvPr id="946626029" name="Shape 8"/>
          <p:cNvSpPr/>
          <p:nvPr/>
        </p:nvSpPr>
        <p:spPr bwMode="auto">
          <a:xfrm>
            <a:off x="6217920" y="868680"/>
            <a:ext cx="265176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29723433" name="Text 9"/>
          <p:cNvSpPr/>
          <p:nvPr/>
        </p:nvSpPr>
        <p:spPr bwMode="auto">
          <a:xfrm>
            <a:off x="6217920" y="896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5.00</a:t>
            </a:r>
            <a:endParaRPr lang="en-US" sz="3600"/>
          </a:p>
        </p:txBody>
      </p:sp>
      <p:sp>
        <p:nvSpPr>
          <p:cNvPr id="192867644" name="Text 10"/>
          <p:cNvSpPr/>
          <p:nvPr/>
        </p:nvSpPr>
        <p:spPr bwMode="auto">
          <a:xfrm>
            <a:off x="6217920" y="15361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Lowest Avg Rating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(Horror)</a:t>
            </a:r>
            <a:endParaRPr lang="en-US" sz="1000"/>
          </a:p>
        </p:txBody>
      </p:sp>
      <p:sp>
        <p:nvSpPr>
          <p:cNvPr id="1104877573" name="Text 11"/>
          <p:cNvSpPr/>
          <p:nvPr/>
        </p:nvSpPr>
        <p:spPr bwMode="auto">
          <a:xfrm>
            <a:off x="365760" y="2212848"/>
            <a:ext cx="8412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Documentary, News, and Biography genres consistently outperform all others in average audience rating across the decade.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Drama dominates in sheer volume — 11,600+ films — and total audience engagement (8.4M+ votes).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High-volume genres (Action, Horror, Thriller) cluster at the bottom of the ratings table despite large production output.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Genres with fewer films (Biography, History, Music) show stronger critical reception, suggesting quality-over-quantity dynamics.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The genre column stores comma-separated combinations — requiring data transformation before accurate per-genre analysis.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A minimum vote threshold (10,000+) was applied to filter statistically unreliable ratings from low-visibility films.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453644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16284461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 |  Business Question &amp; Supporting Evidence</a:t>
            </a:r>
            <a:endParaRPr lang="en-US" sz="1600"/>
          </a:p>
        </p:txBody>
      </p:sp>
      <p:sp>
        <p:nvSpPr>
          <p:cNvPr id="206013953" name="Shape 2"/>
          <p:cNvSpPr/>
          <p:nvPr/>
        </p:nvSpPr>
        <p:spPr bwMode="auto">
          <a:xfrm flipH="0" flipV="0">
            <a:off x="365759" y="822959"/>
            <a:ext cx="8412480" cy="771674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91412063" name="Text 3"/>
          <p:cNvSpPr/>
          <p:nvPr/>
        </p:nvSpPr>
        <p:spPr bwMode="auto">
          <a:xfrm>
            <a:off x="365760" y="822960"/>
            <a:ext cx="8412480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Business Question: 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Should studios shift production investment toward Biography, Documentary, and History content — and away from high-volume low-rated genres like Action and Horror — to improve critical standing and long-term audience trust?</a:t>
            </a:r>
            <a:endParaRPr lang="en-US" sz="1200"/>
          </a:p>
        </p:txBody>
      </p:sp>
      <p:pic>
        <p:nvPicPr>
          <p:cNvPr id="199554188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5759" y="1669550"/>
            <a:ext cx="8412480" cy="3424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91024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25921410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  |  Data Cleaning Tasks Identified</a:t>
            </a:r>
            <a:endParaRPr lang="en-US" sz="1600"/>
          </a:p>
        </p:txBody>
      </p:sp>
      <p:sp>
        <p:nvSpPr>
          <p:cNvPr id="1315709561" name="Shape 2"/>
          <p:cNvSpPr/>
          <p:nvPr/>
        </p:nvSpPr>
        <p:spPr bwMode="auto">
          <a:xfrm>
            <a:off x="365760" y="868680"/>
            <a:ext cx="416051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03064352" name="Shape 3"/>
          <p:cNvSpPr/>
          <p:nvPr/>
        </p:nvSpPr>
        <p:spPr bwMode="auto">
          <a:xfrm>
            <a:off x="365760" y="868680"/>
            <a:ext cx="64008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53808896" name="Text 4"/>
          <p:cNvSpPr/>
          <p:nvPr/>
        </p:nvSpPr>
        <p:spPr bwMode="auto">
          <a:xfrm>
            <a:off x="50292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Critical</a:t>
            </a:r>
            <a:endParaRPr lang="en-US" sz="900"/>
          </a:p>
        </p:txBody>
      </p:sp>
      <p:sp>
        <p:nvSpPr>
          <p:cNvPr id="816619500" name="Text 5"/>
          <p:cNvSpPr/>
          <p:nvPr/>
        </p:nvSpPr>
        <p:spPr bwMode="auto">
          <a:xfrm>
            <a:off x="50292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Genre Column Normalisation</a:t>
            </a:r>
            <a:endParaRPr lang="en-US" sz="1300"/>
          </a:p>
        </p:txBody>
      </p:sp>
      <p:sp>
        <p:nvSpPr>
          <p:cNvPr id="5745653" name="Text 6"/>
          <p:cNvSpPr/>
          <p:nvPr/>
        </p:nvSpPr>
        <p:spPr bwMode="auto">
          <a:xfrm>
            <a:off x="502920" y="152704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36454F"/>
                </a:solidFill>
                <a:latin typeface="Calibri Light"/>
                <a:ea typeface="Calibri Light"/>
                <a:cs typeface="Calibri Light"/>
              </a:rPr>
              <a:t>The genres field stores multiple values as a comma-separated string (e.g. 'Action,Drama,Thriller'). This must be split and exploded into individual rows before any per-genre aggregation can be accurate.</a:t>
            </a:r>
            <a:endParaRPr lang="en-US" sz="1050"/>
          </a:p>
        </p:txBody>
      </p:sp>
      <p:sp>
        <p:nvSpPr>
          <p:cNvPr id="1788394335" name="Shape 7"/>
          <p:cNvSpPr/>
          <p:nvPr/>
        </p:nvSpPr>
        <p:spPr bwMode="auto">
          <a:xfrm>
            <a:off x="4800600" y="868680"/>
            <a:ext cx="416051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28572280" name="Shape 8"/>
          <p:cNvSpPr/>
          <p:nvPr/>
        </p:nvSpPr>
        <p:spPr bwMode="auto">
          <a:xfrm>
            <a:off x="4800600" y="868680"/>
            <a:ext cx="64008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1363377" name="Text 9"/>
          <p:cNvSpPr/>
          <p:nvPr/>
        </p:nvSpPr>
        <p:spPr bwMode="auto">
          <a:xfrm>
            <a:off x="493776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Critical</a:t>
            </a:r>
            <a:endParaRPr lang="en-US" sz="900"/>
          </a:p>
        </p:txBody>
      </p:sp>
      <p:sp>
        <p:nvSpPr>
          <p:cNvPr id="1586268107" name="Text 10"/>
          <p:cNvSpPr/>
          <p:nvPr/>
        </p:nvSpPr>
        <p:spPr bwMode="auto">
          <a:xfrm>
            <a:off x="493776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Vote Threshold</a:t>
            </a:r>
            <a:endParaRPr lang="en-US" sz="1300"/>
          </a:p>
        </p:txBody>
      </p:sp>
      <p:sp>
        <p:nvSpPr>
          <p:cNvPr id="761172056" name="Text 11"/>
          <p:cNvSpPr/>
          <p:nvPr/>
        </p:nvSpPr>
        <p:spPr bwMode="auto">
          <a:xfrm>
            <a:off x="4937760" y="152704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36454F"/>
                </a:solidFill>
                <a:latin typeface="Calibri Light"/>
                <a:ea typeface="Calibri Light"/>
                <a:cs typeface="Calibri Light"/>
              </a:rPr>
              <a:t>Films with very few votes (e.g. 5–50) produce unreliable average ratings. A minimum threshold (10,000+ votes recommended) must be applied to filter statistically insignificant entries.</a:t>
            </a:r>
            <a:endParaRPr lang="en-US" sz="1050"/>
          </a:p>
        </p:txBody>
      </p:sp>
      <p:sp>
        <p:nvSpPr>
          <p:cNvPr id="1221492657" name="Shape 12"/>
          <p:cNvSpPr/>
          <p:nvPr/>
        </p:nvSpPr>
        <p:spPr bwMode="auto">
          <a:xfrm>
            <a:off x="365760" y="2880360"/>
            <a:ext cx="416051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575856476" name="Shape 13"/>
          <p:cNvSpPr/>
          <p:nvPr/>
        </p:nvSpPr>
        <p:spPr bwMode="auto">
          <a:xfrm>
            <a:off x="365760" y="2880360"/>
            <a:ext cx="6400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48496812" name="Text 14"/>
          <p:cNvSpPr/>
          <p:nvPr/>
        </p:nvSpPr>
        <p:spPr bwMode="auto">
          <a:xfrm>
            <a:off x="50292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Required</a:t>
            </a:r>
            <a:endParaRPr lang="en-US" sz="900"/>
          </a:p>
        </p:txBody>
      </p:sp>
      <p:sp>
        <p:nvSpPr>
          <p:cNvPr id="1887189418" name="Text 15"/>
          <p:cNvSpPr/>
          <p:nvPr/>
        </p:nvSpPr>
        <p:spPr bwMode="auto">
          <a:xfrm>
            <a:off x="50292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Year Range Enforcement</a:t>
            </a:r>
            <a:endParaRPr lang="en-US" sz="1300"/>
          </a:p>
        </p:txBody>
      </p:sp>
      <p:sp>
        <p:nvSpPr>
          <p:cNvPr id="1224683519" name="Text 16"/>
          <p:cNvSpPr/>
          <p:nvPr/>
        </p:nvSpPr>
        <p:spPr bwMode="auto">
          <a:xfrm>
            <a:off x="502920" y="353872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36454F"/>
                </a:solidFill>
                <a:latin typeface="Calibri Light"/>
                <a:ea typeface="Calibri Light"/>
                <a:cs typeface="Calibri Light"/>
              </a:rPr>
              <a:t>The dataset includes titles beyond 2019 with incomplete or inaccurate data. A strict BETWEEN 2010 AND 2019 filter must be applied consistently across all queries.</a:t>
            </a:r>
            <a:endParaRPr lang="en-US" sz="1050"/>
          </a:p>
        </p:txBody>
      </p:sp>
      <p:sp>
        <p:nvSpPr>
          <p:cNvPr id="1608511903" name="Shape 17"/>
          <p:cNvSpPr/>
          <p:nvPr/>
        </p:nvSpPr>
        <p:spPr bwMode="auto">
          <a:xfrm>
            <a:off x="4800600" y="2880360"/>
            <a:ext cx="416051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35101659" name="Shape 18"/>
          <p:cNvSpPr/>
          <p:nvPr/>
        </p:nvSpPr>
        <p:spPr bwMode="auto">
          <a:xfrm>
            <a:off x="4800600" y="2880360"/>
            <a:ext cx="6400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20669250" name="Text 19"/>
          <p:cNvSpPr/>
          <p:nvPr/>
        </p:nvSpPr>
        <p:spPr bwMode="auto">
          <a:xfrm>
            <a:off x="493776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Required</a:t>
            </a:r>
            <a:endParaRPr lang="en-US" sz="900"/>
          </a:p>
        </p:txBody>
      </p:sp>
      <p:sp>
        <p:nvSpPr>
          <p:cNvPr id="830258492" name="Text 20"/>
          <p:cNvSpPr/>
          <p:nvPr/>
        </p:nvSpPr>
        <p:spPr bwMode="auto">
          <a:xfrm>
            <a:off x="493776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Null Value Exclusion</a:t>
            </a:r>
            <a:endParaRPr lang="en-US" sz="1300"/>
          </a:p>
        </p:txBody>
      </p:sp>
      <p:sp>
        <p:nvSpPr>
          <p:cNvPr id="2054419114" name="Text 21"/>
          <p:cNvSpPr/>
          <p:nvPr/>
        </p:nvSpPr>
        <p:spPr bwMode="auto">
          <a:xfrm>
            <a:off x="4937760" y="353872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36454F"/>
                </a:solidFill>
                <a:latin typeface="Calibri Light"/>
                <a:ea typeface="Calibri Light"/>
                <a:cs typeface="Calibri Light"/>
              </a:rPr>
              <a:t>Several fields including genres, averagerating, and numvotes contain null values. These must be explicitly excluded using IS NOT NULL conditions rather than filled or imputed.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92298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9208871" name="Text 1"/>
          <p:cNvSpPr/>
          <p:nvPr/>
        </p:nvSpPr>
        <p:spPr bwMode="auto">
          <a:xfrm>
            <a:off x="41148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Takeaway</a:t>
            </a:r>
            <a:endParaRPr lang="en-US" sz="2800"/>
          </a:p>
        </p:txBody>
      </p:sp>
      <p:sp>
        <p:nvSpPr>
          <p:cNvPr id="1726155230" name="Text 2"/>
          <p:cNvSpPr/>
          <p:nvPr/>
        </p:nvSpPr>
        <p:spPr bwMode="auto">
          <a:xfrm>
            <a:off x="411480" y="1874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Prestige factual content — Documentary, Biography, History — consistently outperforms high-volume genres in audience ratings. Studios optimising for critical standing and long-term trust should consider rebalancing investment toward these categories.</a:t>
            </a:r>
            <a:endParaRPr lang="en-US" sz="1500"/>
          </a:p>
        </p:txBody>
      </p:sp>
      <p:sp>
        <p:nvSpPr>
          <p:cNvPr id="169259409" name="Shape 3"/>
          <p:cNvSpPr/>
          <p:nvPr/>
        </p:nvSpPr>
        <p:spPr bwMode="auto">
          <a:xfrm>
            <a:off x="411480" y="3429000"/>
            <a:ext cx="2743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39803592" name="Text 4"/>
          <p:cNvSpPr/>
          <p:nvPr/>
        </p:nvSpPr>
        <p:spPr bwMode="auto">
          <a:xfrm>
            <a:off x="41148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alibri Light"/>
                <a:ea typeface="Calibri Light"/>
                <a:cs typeface="Calibri Light"/>
              </a:rPr>
              <a:t>Further analysis recommended with full genre normalisation and financial production cost data.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Genre Analysis 2010-2019</dc:title>
  <dc:subject>PptxGenJS Presentation</dc:subject>
  <dc:creator>Ken Wanjiru</dc:creator>
  <cp:lastModifiedBy/>
  <cp:revision>2</cp:revision>
  <dcterms:created xsi:type="dcterms:W3CDTF">2026-04-29T12:55:55Z</dcterms:created>
  <dcterms:modified xsi:type="dcterms:W3CDTF">2026-04-29T12:59:21Z</dcterms:modified>
</cp:coreProperties>
</file>